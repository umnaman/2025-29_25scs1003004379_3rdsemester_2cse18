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95160" y="640080"/>
            <a:ext cx="4434840" cy="5440680"/>
          </a:xfrm>
          <a:prstGeom prst="roundRect">
            <a:avLst/>
          </a:prstGeom>
          <a:solidFill>
            <a:srgbClr val="114E3B"/>
          </a:solidFill>
          <a:ln>
            <a:solidFill>
              <a:srgbClr val="33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BD6C2"/>
                </a:solidFill>
                <a:latin typeface="Aptos"/>
              </a:rPr>
              <a:t>YUVAINTERN  /  INTERNSHIP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943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CivicConnect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715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DAEBE3"/>
                </a:solidFill>
                <a:latin typeface="Aptos"/>
              </a:rPr>
              <a:t>Community-Driven</a:t>
            </a:r>
            <a:br/>
            <a:r>
              <a:rPr sz="2300" b="1">
                <a:solidFill>
                  <a:srgbClr val="DAEBE3"/>
                </a:solidFill>
                <a:latin typeface="Aptos"/>
              </a:rPr>
              <a:t>E-Governance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5394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DACD"/>
                </a:solidFill>
                <a:latin typeface="Aptos"/>
              </a:rPr>
              <a:t>From reporting local issues to building visible, community-led civic participation.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983480"/>
            <a:ext cx="5394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NAMAN  •  25SCS1003004379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49240"/>
            <a:ext cx="5760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9D3C7"/>
                </a:solidFill>
                <a:latin typeface="Aptos"/>
              </a:rPr>
              <a:t>Semester 3  •  2CSE18  •  Session 2025-29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42432"/>
            <a:ext cx="5852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9D3C7"/>
                </a:solidFill>
                <a:latin typeface="Aptos"/>
              </a:rPr>
              <a:t>Junior Web Developer — E-Governance &amp; Digital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05156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BD6C2"/>
                </a:solidFill>
                <a:latin typeface="Aptos"/>
              </a:rPr>
              <a:t>PROJECT IN ONE VIEW</a:t>
            </a:r>
          </a:p>
        </p:txBody>
      </p:sp>
      <p:sp>
        <p:nvSpPr>
          <p:cNvPr id="11" name="Oval 10"/>
          <p:cNvSpPr/>
          <p:nvPr/>
        </p:nvSpPr>
        <p:spPr>
          <a:xfrm>
            <a:off x="7452360" y="1600200"/>
            <a:ext cx="438912" cy="438912"/>
          </a:xfrm>
          <a:prstGeom prst="ellipse">
            <a:avLst/>
          </a:prstGeom>
          <a:solidFill>
            <a:srgbClr val="8FE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6002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D2D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1581912"/>
            <a:ext cx="2468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1856232"/>
            <a:ext cx="2834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4DCD1"/>
                </a:solidFill>
                <a:latin typeface="Aptos"/>
              </a:rPr>
              <a:t>Join approved local communities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2587752"/>
            <a:ext cx="438912" cy="438912"/>
          </a:xfrm>
          <a:prstGeom prst="ellipse">
            <a:avLst/>
          </a:prstGeom>
          <a:solidFill>
            <a:srgbClr val="8FE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58775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D2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569464"/>
            <a:ext cx="2468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843784"/>
            <a:ext cx="2834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4DCD1"/>
                </a:solidFill>
                <a:latin typeface="Aptos"/>
              </a:rPr>
              <a:t>Raise and support civic issues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3575304"/>
            <a:ext cx="438912" cy="438912"/>
          </a:xfrm>
          <a:prstGeom prst="ellipse">
            <a:avLst/>
          </a:prstGeom>
          <a:solidFill>
            <a:srgbClr val="8FE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57530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D2D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557016"/>
            <a:ext cx="2468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3831336"/>
            <a:ext cx="2834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4DCD1"/>
                </a:solidFill>
                <a:latin typeface="Aptos"/>
              </a:rPr>
              <a:t>Volunteer in approved initiatives</a:t>
            </a:r>
          </a:p>
        </p:txBody>
      </p:sp>
      <p:sp>
        <p:nvSpPr>
          <p:cNvPr id="23" name="Oval 22"/>
          <p:cNvSpPr/>
          <p:nvPr/>
        </p:nvSpPr>
        <p:spPr>
          <a:xfrm>
            <a:off x="7452360" y="4562856"/>
            <a:ext cx="438912" cy="438912"/>
          </a:xfrm>
          <a:prstGeom prst="ellipse">
            <a:avLst/>
          </a:prstGeom>
          <a:solidFill>
            <a:srgbClr val="8FE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6285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D2D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4544568"/>
            <a:ext cx="2468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4818888"/>
            <a:ext cx="2834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4DCD1"/>
                </a:solidFill>
                <a:latin typeface="Aptos"/>
              </a:rPr>
              <a:t>Discover privacy-safe civic 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532120"/>
            <a:ext cx="3429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BD6C2"/>
                </a:solidFill>
                <a:latin typeface="Aptos"/>
              </a:rPr>
              <a:t>05 AUG 2026  →  02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01 /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A four-week remote internship focused on practical web development for digital civic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64008" cy="132588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97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YuvaIntern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Remote internship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64008" cy="1325880"/>
          </a:xfrm>
          <a:prstGeom prst="rect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78608"/>
            <a:ext cx="297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05 Aug 2026 - 02 Sep 2026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4 weeks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64008" cy="132588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78608"/>
            <a:ext cx="2971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Junior Web Developer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E-Governance &amp; Digital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10881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64008" cy="146304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40480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Internship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15968"/>
            <a:ext cx="10469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Design and develop user-friendly web interfaces for e-governance use cases, translate requirements into a working prototype, test core flows, and improve usability, performance and security.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6C6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02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Why CivicConnect?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Traditional complaint portals often stop at issue submission. CivicConnect extends the flow into community participation.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64008" cy="237744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Fragmented Civic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7"/>
            <a:ext cx="2926079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Complaints, local discussions, volunteering and public activity are often separated across different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64008" cy="2377440"/>
          </a:xfrm>
          <a:prstGeom prst="rect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Low Community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32887"/>
            <a:ext cx="2926079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Residents may not know which local issues are active, what improvements are proposed, or where civic work is scheduled.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74519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74519"/>
            <a:ext cx="64008" cy="237744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0574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Need for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32887"/>
            <a:ext cx="2926079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Citizens need a clear path from raising an issue to tracking review, approval, participation and outcomes.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A3D2D"/>
                </a:solidFill>
                <a:latin typeface="Aptos"/>
              </a:rPr>
              <a:t>Goal: connect reporting + community collaboration + approved civic initiatives in one responsive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6C6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03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The CivicConnect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A community-first civic platform built around simple, traceable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Join Communities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Discover and join approved local communities.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64008" cy="141732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Raise Civic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Submit local problems and track civic discussions.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828800"/>
            <a:ext cx="64008" cy="1417320"/>
          </a:xfrm>
          <a:prstGeom prst="rect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01168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Suggest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48716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Propose community-led improvements separately from complaints.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64008" cy="141732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Volunteer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Participate in approved and scheduled civic initiatives.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64008" cy="141732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8862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Activity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6168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Search locality manually and view privacy-safe public civic activity.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703320"/>
            <a:ext cx="64008" cy="1417320"/>
          </a:xfrm>
          <a:prstGeom prst="rect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8862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Participation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36168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Track community involvement and civic contribution.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6C6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04 /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Dashboard &amp; Community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The Week 2 prototype converted the concept into a working responsive interface.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74748"/>
            <a:ext cx="5486400" cy="31771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1828800"/>
            <a:ext cx="5486400" cy="4069080"/>
          </a:xfrm>
          <a:prstGeom prst="rect">
            <a:avLst/>
          </a:prstGeom>
          <a:noFill/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319758"/>
            <a:ext cx="5330952" cy="308716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1828800"/>
            <a:ext cx="5330952" cy="4069080"/>
          </a:xfrm>
          <a:prstGeom prst="rect">
            <a:avLst/>
          </a:prstGeom>
          <a:noFill/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961888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C6C64"/>
                </a:solidFill>
                <a:latin typeface="Aptos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961888"/>
            <a:ext cx="5330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C6C64"/>
                </a:solidFill>
                <a:latin typeface="Aptos"/>
              </a:rPr>
              <a:t>Community 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05 / 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Issues, Initiatives &amp; Civic Activity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Key modules keep government-facing issues separate from community-led participation.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849999"/>
            <a:ext cx="3657600" cy="21181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828800"/>
            <a:ext cx="3657600" cy="4160520"/>
          </a:xfrm>
          <a:prstGeom prst="rect">
            <a:avLst/>
          </a:prstGeom>
          <a:noFill/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016752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C6C64"/>
                </a:solidFill>
                <a:latin typeface="Aptos"/>
              </a:rPr>
              <a:t>Issues &amp; Improvements</a:t>
            </a:r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2849999"/>
            <a:ext cx="3657600" cy="211812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89120" y="1828800"/>
            <a:ext cx="3657600" cy="4160520"/>
          </a:xfrm>
          <a:prstGeom prst="rect">
            <a:avLst/>
          </a:prstGeom>
          <a:noFill/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6016752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C6C64"/>
                </a:solidFill>
                <a:latin typeface="Aptos"/>
              </a:rPr>
              <a:t>Civic Initiatives</a:t>
            </a:r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2849999"/>
            <a:ext cx="3657600" cy="211812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275320" y="1828800"/>
            <a:ext cx="3657600" cy="4160520"/>
          </a:xfrm>
          <a:prstGeom prst="rect">
            <a:avLst/>
          </a:prstGeom>
          <a:noFill/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6016752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C6C64"/>
                </a:solidFill>
                <a:latin typeface="Aptos"/>
              </a:rPr>
              <a:t>Activity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06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From Local Issue to Civic Participation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The platform connects individual reporting with reviewed community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60320"/>
            <a:ext cx="1371600" cy="914400"/>
          </a:xfrm>
          <a:prstGeom prst="roundRect">
            <a:avLst/>
          </a:prstGeom>
          <a:solidFill>
            <a:srgbClr val="0A3D2D"/>
          </a:solidFill>
          <a:ln>
            <a:solidFill>
              <a:srgbClr val="14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33472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Login /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2788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694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7128" y="2560320"/>
            <a:ext cx="1371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2633472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2924"/>
                </a:solidFill>
                <a:latin typeface="Aptos"/>
              </a:rPr>
              <a:t>Join 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788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694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1336" y="2560320"/>
            <a:ext cx="1371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2633472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2924"/>
                </a:solidFill>
                <a:latin typeface="Aptos"/>
              </a:rPr>
              <a:t>Issue or 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788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694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5544" y="2560320"/>
            <a:ext cx="1371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1264" y="2633472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2924"/>
                </a:solidFill>
                <a:latin typeface="Apto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2788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694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9752" y="2560320"/>
            <a:ext cx="1371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2633472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2924"/>
                </a:solidFill>
                <a:latin typeface="Aptos"/>
              </a:rPr>
              <a:t>Approved Initiative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788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694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560320"/>
            <a:ext cx="1371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633472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F2924"/>
                </a:solidFill>
                <a:latin typeface="Aptos"/>
              </a:rPr>
              <a:t>Volunteer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2788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694B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88168" y="2560320"/>
            <a:ext cx="1371600" cy="914400"/>
          </a:xfrm>
          <a:prstGeom prst="roundRect">
            <a:avLst/>
          </a:prstGeom>
          <a:solidFill>
            <a:srgbClr val="0A3D2D"/>
          </a:solidFill>
          <a:ln>
            <a:solidFill>
              <a:srgbClr val="14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33888" y="2633472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Public Activity 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4069080"/>
            <a:ext cx="4069080" cy="1737360"/>
          </a:xfrm>
          <a:prstGeom prst="rect">
            <a:avLst/>
          </a:prstGeom>
          <a:noFill/>
          <a:ln w="12700"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160520"/>
            <a:ext cx="27432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Structured forms capture locality and privacy-aware details without exposing unnecessary precise location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6C64"/>
                </a:solidFill>
                <a:latin typeface="Aptos"/>
              </a:rPr>
              <a:t>07</a:t>
            </a:r>
          </a:p>
        </p:txBody>
      </p:sp>
      <p:pic>
        <p:nvPicPr>
          <p:cNvPr id="30" name="Picture 29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87" y="3977639"/>
            <a:ext cx="3236945" cy="187451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886200" y="3977639"/>
            <a:ext cx="4389120" cy="1874519"/>
          </a:xfrm>
          <a:prstGeom prst="rect">
            <a:avLst/>
          </a:prstGeom>
          <a:noFill/>
          <a:ln>
            <a:solidFill>
              <a:srgbClr val="CD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07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A lightweight stack suitable for a student prototype and rapid iteration.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HTML5 • CSS3 • JavaScript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React via React.createElement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64008" cy="1417320"/>
          </a:xfrm>
          <a:prstGeom prst="rect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Python 3.13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Flask 3.1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288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828800"/>
            <a:ext cx="64008" cy="141732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01168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48716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SQLite3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Relational persistence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64008" cy="141732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Leaflet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OpenStreetMap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64008" cy="1417320"/>
          </a:xfrm>
          <a:prstGeom prst="rect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8862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6168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Git • GitHub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Local Flask environment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703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703320"/>
            <a:ext cx="64008" cy="141732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886200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361688"/>
            <a:ext cx="2926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Flask test client</a:t>
            </a:r>
            <a:br/>
            <a:r>
              <a:rPr sz="1100" b="0">
                <a:solidFill>
                  <a:srgbClr val="5C6C64"/>
                </a:solidFill>
                <a:latin typeface="Aptos"/>
              </a:rPr>
              <a:t>Python + JS syntax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6C6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08 /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Four Weeks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The project moved from planning to a working prototype, then testing and final improvements.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743200"/>
            <a:ext cx="9692640" cy="36576"/>
          </a:xfrm>
          <a:prstGeom prst="rect">
            <a:avLst/>
          </a:prstGeom>
          <a:solidFill>
            <a:srgbClr val="DE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441448"/>
            <a:ext cx="640080" cy="640080"/>
          </a:xfrm>
          <a:prstGeom prst="ellipse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414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694B"/>
                </a:solidFill>
                <a:latin typeface="Apto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75887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2924"/>
                </a:solidFill>
                <a:latin typeface="Aptos"/>
              </a:rPr>
              <a:t>Planning and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70832"/>
            <a:ext cx="2011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C6C64"/>
                </a:solidFill>
                <a:latin typeface="Aptos"/>
              </a:rPr>
              <a:t>Defined the project scope, user needs, main features and basic system flow.</a:t>
            </a:r>
          </a:p>
        </p:txBody>
      </p:sp>
      <p:sp>
        <p:nvSpPr>
          <p:cNvPr id="12" name="Oval 11"/>
          <p:cNvSpPr/>
          <p:nvPr/>
        </p:nvSpPr>
        <p:spPr>
          <a:xfrm>
            <a:off x="4206240" y="2441448"/>
            <a:ext cx="640080" cy="640080"/>
          </a:xfrm>
          <a:prstGeom prst="ellipse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4414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1012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3165DA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75887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2924"/>
                </a:solidFill>
                <a:latin typeface="Aptos"/>
              </a:rPr>
              <a:t>Responsive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4370832"/>
            <a:ext cx="2011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C6C64"/>
                </a:solidFill>
                <a:latin typeface="Aptos"/>
              </a:rPr>
              <a:t>Built CivicConnect with communities, civic issues, improvements, initiatives and the activity map.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0" y="2441448"/>
            <a:ext cx="640080" cy="640080"/>
          </a:xfrm>
          <a:prstGeom prst="ellipse">
            <a:avLst/>
          </a:prstGeom>
          <a:solidFill>
            <a:srgbClr val="C8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4414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1012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C8463E"/>
                </a:solidFill>
                <a:latin typeface="Aptos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75887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2924"/>
                </a:solidFill>
                <a:latin typeface="Aptos"/>
              </a:rPr>
              <a:t>Testing and Bug Fixes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370832"/>
            <a:ext cx="2011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C6C64"/>
                </a:solidFill>
                <a:latin typeface="Aptos"/>
              </a:rPr>
              <a:t>Tested the main user flows, found real issues and fixed them before retesting.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0" y="2441448"/>
            <a:ext cx="640080" cy="640080"/>
          </a:xfrm>
          <a:prstGeom prst="ellipse">
            <a:avLst/>
          </a:prstGeom>
          <a:solidFill>
            <a:srgbClr val="0A3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4414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1012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A3D2D"/>
                </a:solidFill>
                <a:latin typeface="Aptos"/>
              </a:rPr>
              <a:t>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75887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2924"/>
                </a:solidFill>
                <a:latin typeface="Aptos"/>
              </a:rPr>
              <a:t>Final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70832"/>
            <a:ext cx="2011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C6C64"/>
                </a:solidFill>
                <a:latin typeface="Aptos"/>
              </a:rPr>
              <a:t>Reviewed performance, accessibility and security, then made the final improvements.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3D2D"/>
                </a:solidFill>
                <a:latin typeface="Aptos"/>
              </a:rPr>
              <a:t>Planning  →  Prototype  →  Testing  →  Improvement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6C6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09 /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Testing &amp; Defect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Testing covered complete user flows, backend validation, persistence and authorization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132588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8346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8346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Representative test cases passed in the final Week 3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288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828800"/>
            <a:ext cx="64008" cy="1325880"/>
          </a:xfrm>
          <a:prstGeom prst="rect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28346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4 /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87168"/>
            <a:ext cx="28346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Documented Week 3 defects fixed and successfully retested.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828800"/>
            <a:ext cx="3840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828800"/>
            <a:ext cx="64008" cy="132588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011680"/>
            <a:ext cx="3429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0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487168"/>
            <a:ext cx="3429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No critical unresolved defects remained in the representative suite.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64008" cy="164592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49039"/>
            <a:ext cx="4800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Examples 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4800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Login • community membership • issue submission • duplicate-action prevention • discussions • initiatives • map data • role restrictions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56616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566160"/>
            <a:ext cx="64008" cy="164592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49039"/>
            <a:ext cx="493775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Notable Fixes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24528"/>
            <a:ext cx="493775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Blank-screen JavaScript failure • map/modal overlap • missing map actions • dashboard aggregation HTTP 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6C6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4694B"/>
                </a:solidFill>
                <a:latin typeface="Aptos"/>
              </a:rPr>
              <a:t>10 /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24"/>
                </a:solidFill>
                <a:latin typeface="Aptos"/>
              </a:rPr>
              <a:t>Performance, Accessibility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C64"/>
                </a:solidFill>
                <a:latin typeface="Aptos"/>
              </a:rPr>
              <a:t>Week 4 focused on improving the existing build instead of adding unnecessary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" cy="1965960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30175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Added six SQLite indexes for frequent community, post, initiative, membership and support lookups. Local API response times improved in measured endpoints.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64008" cy="1965960"/>
          </a:xfrm>
          <a:prstGeom prst="rect">
            <a:avLst/>
          </a:prstGeom>
          <a:solidFill>
            <a:srgbClr val="316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30175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Reviewed labels, modal behavior, keyboard access, contrast criteria and map limitations. Added Escape-key modal closing.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64008" cy="196596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24"/>
                </a:solidFill>
                <a:latin typeface="Aptos"/>
              </a:rPr>
              <a:t>Security &amp;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87168"/>
            <a:ext cx="30175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C64"/>
                </a:solidFill>
                <a:latin typeface="Aptos"/>
              </a:rPr>
              <a:t>Reviewed authorization, SQL injection exposure, session behavior and DOM-XSS risk. Added centralized HTML escaping for map popup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3D2D"/>
                </a:solidFill>
                <a:latin typeface="Aptos"/>
              </a:rPr>
              <a:t>Scope was kept realistic: no claims of production-scale load testing, destructive penetration testing or full WCAG compliance.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C6C6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EDCCF"/>
                </a:solidFill>
                <a:latin typeface="Aptos"/>
              </a:rPr>
              <a:t>11 /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Learning &amp; Final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CE8E2"/>
                </a:solidFill>
                <a:latin typeface="Aptos"/>
              </a:rPr>
              <a:t>CivicConnect became a working, tested e-governance prototype with a clear path for future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FE1B9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Requirement analysis →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FE1B9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Responsive UI and user-flow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FE1B9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9748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Flask routes and SQLite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974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FE1B9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9748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Debugging and regression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FE1B9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7472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Privacy-aware map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747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FE1B9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7472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Performance, accessibility and security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FE1B9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5196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Git/GitHub project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519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FE1B9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5196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Turning feedback into iterative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BEDCC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